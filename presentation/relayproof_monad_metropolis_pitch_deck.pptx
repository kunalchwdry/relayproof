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monad.xyz/developers/hackathons/metropoli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monad.xyz/developers/hackathons/metropolis" TargetMode="External"/><Relationship Id="rId5" Type="http://schemas.openxmlformats.org/officeDocument/2006/relationships/hyperlink" Target="https://monad.xyz/brand-and-media-ki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layproof_video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3383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00" b="1" i="0">
                <a:solidFill>
                  <a:srgbClr val="BAC4B7"/>
                </a:solidFill>
                <a:latin typeface="Consolas"/>
              </a:defRPr>
            </a:pPr>
            <a:r>
              <a:t>PRODUCT + PROBLEM-FIT DECK</a:t>
            </a:r>
          </a:p>
        </p:txBody>
      </p:sp>
      <p:pic>
        <p:nvPicPr>
          <p:cNvPr id="4" name="Picture 3" descr="monad-official-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320040"/>
            <a:ext cx="438912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96528" y="393192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00" b="1" i="0">
                <a:solidFill>
                  <a:srgbClr val="F3F1E8"/>
                </a:solidFill>
                <a:latin typeface="Consolas"/>
              </a:defRPr>
            </a:pPr>
            <a:r>
              <a:t>MONAD</a:t>
            </a:r>
          </a:p>
        </p:txBody>
      </p:sp>
      <p:pic>
        <p:nvPicPr>
          <p:cNvPr id="6" name="Picture 5" descr="metropolis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93192"/>
            <a:ext cx="1719072" cy="174199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621792" y="804672"/>
            <a:ext cx="10972800" cy="0"/>
          </a:xfrm>
          <a:prstGeom prst="line">
            <a:avLst/>
          </a:prstGeom>
          <a:ln w="1016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13232" y="1261872"/>
            <a:ext cx="2139696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93875"/>
            <a:ext cx="1993391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919" b="0" i="0">
                <a:solidFill>
                  <a:srgbClr val="CFAC74"/>
                </a:solidFill>
                <a:latin typeface="Consolas"/>
              </a:defRPr>
            </a:pPr>
            <a:r>
              <a:t>METROPOLIS · TRACK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52578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4000" b="1" i="0">
                <a:solidFill>
                  <a:srgbClr val="F3F1E8"/>
                </a:solidFill>
                <a:latin typeface="Arial"/>
              </a:defRPr>
            </a:pPr>
            <a:r>
              <a:t>RelayProof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05456"/>
            <a:ext cx="507492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2750" b="1" i="0">
                <a:solidFill>
                  <a:srgbClr val="99C5A2"/>
                </a:solidFill>
                <a:latin typeface="Arial"/>
              </a:defRPr>
            </a:pPr>
            <a:r>
              <a:t>A clearer evidence trail for audio &amp; video.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84448"/>
            <a:ext cx="4919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610" b="0" i="0">
                <a:solidFill>
                  <a:srgbClr val="BAC4B7"/>
                </a:solidFill>
                <a:latin typeface="Arial"/>
              </a:defRPr>
            </a:pPr>
            <a:r>
              <a:t>Signed source claims · exact-file checks · local content review · Chrome extension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90288"/>
            <a:ext cx="5074920" cy="896112"/>
          </a:xfrm>
          <a:prstGeom prst="roundRect">
            <a:avLst/>
          </a:prstGeom>
          <a:solidFill>
            <a:srgbClr val="15362B"/>
          </a:solidFill>
          <a:ln w="11430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745736"/>
            <a:ext cx="141732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777740"/>
            <a:ext cx="127101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0" i="0">
                <a:solidFill>
                  <a:srgbClr val="CFAC74"/>
                </a:solidFill>
                <a:latin typeface="Consolas"/>
              </a:defRPr>
            </a:pPr>
            <a:r>
              <a:t>CURRENT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56632"/>
            <a:ext cx="45902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70" b="1" i="0">
                <a:solidFill>
                  <a:srgbClr val="F3F1E8"/>
                </a:solidFill>
                <a:latin typeface="Arial"/>
              </a:defRPr>
            </a:pPr>
            <a:r>
              <a:t>Exact-byte integrity today — not re-encoding resilience.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77900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19" b="0" i="0">
                <a:solidFill>
                  <a:srgbClr val="8FA294"/>
                </a:solidFill>
                <a:latin typeface="Consolas"/>
              </a:defRPr>
            </a:pPr>
            <a:r>
              <a:t>Track-fit concept only · no Monad endorsement, entrant status, or onchain deployment claimed.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225296"/>
            <a:ext cx="5193792" cy="4489704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0256" y="1481328"/>
            <a:ext cx="148132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1513332"/>
            <a:ext cx="133502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40" b="0" i="0">
                <a:solidFill>
                  <a:srgbClr val="99C5A2"/>
                </a:solidFill>
                <a:latin typeface="Consolas"/>
              </a:defRPr>
            </a:pPr>
            <a:r>
              <a:t>THE EVIDENCE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1865376"/>
            <a:ext cx="4617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540" b="1" i="0">
                <a:solidFill>
                  <a:srgbClr val="F3F1E8"/>
                </a:solidFill>
                <a:latin typeface="Arial"/>
              </a:defRPr>
            </a:pPr>
            <a:r>
              <a:t>One file. One signed claim. Clear limits.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633472"/>
            <a:ext cx="1307592" cy="1261872"/>
          </a:xfrm>
          <a:prstGeom prst="roundRect">
            <a:avLst/>
          </a:prstGeom>
          <a:solidFill>
            <a:srgbClr val="1B4032"/>
          </a:solidFill>
          <a:ln w="11430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30568" y="2761488"/>
            <a:ext cx="3840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2793492"/>
            <a:ext cx="2377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8B7BA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312724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50" b="1" i="0">
                <a:solidFill>
                  <a:srgbClr val="F3F1E8"/>
                </a:solidFill>
                <a:latin typeface="Consolas"/>
              </a:defRPr>
            </a:pPr>
            <a:r>
              <a:t>PUBLISHER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3438144"/>
            <a:ext cx="1097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69" b="0" i="0">
                <a:solidFill>
                  <a:srgbClr val="BAC4B7"/>
                </a:solidFill>
                <a:latin typeface="Arial"/>
              </a:defRPr>
            </a:pPr>
            <a:r>
              <a:t>selects media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69" b="0" i="0">
                <a:solidFill>
                  <a:srgbClr val="BAC4B7"/>
                </a:solidFill>
                <a:latin typeface="Arial"/>
              </a:defRPr>
            </a:pPr>
            <a:r>
              <a:t>+ states origin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2633472"/>
            <a:ext cx="1307592" cy="1261872"/>
          </a:xfrm>
          <a:prstGeom prst="roundRect">
            <a:avLst/>
          </a:prstGeom>
          <a:solidFill>
            <a:srgbClr val="1B4032"/>
          </a:solidFill>
          <a:ln w="11430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22207" y="2761488"/>
            <a:ext cx="3840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59" y="2793492"/>
            <a:ext cx="2377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CFAC74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7" y="312724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50" b="1" i="0">
                <a:solidFill>
                  <a:srgbClr val="F3F1E8"/>
                </a:solidFill>
                <a:latin typeface="Consolas"/>
              </a:defRPr>
            </a:pPr>
            <a:r>
              <a:t>SIDECAR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7" y="3438144"/>
            <a:ext cx="1097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69" b="0" i="0">
                <a:solidFill>
                  <a:srgbClr val="BAC4B7"/>
                </a:solidFill>
                <a:latin typeface="Arial"/>
              </a:defRPr>
            </a:pPr>
            <a:r>
              <a:t>SHA-256 +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69" b="0" i="0">
                <a:solidFill>
                  <a:srgbClr val="BAC4B7"/>
                </a:solidFill>
                <a:latin typeface="Arial"/>
              </a:defRPr>
            </a:pPr>
            <a:r>
              <a:t>signed fields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2633472"/>
            <a:ext cx="1307592" cy="1261872"/>
          </a:xfrm>
          <a:prstGeom prst="roundRect">
            <a:avLst/>
          </a:prstGeom>
          <a:solidFill>
            <a:srgbClr val="1B4032"/>
          </a:solidFill>
          <a:ln w="11430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13848" y="2761488"/>
            <a:ext cx="3840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7000" y="2793492"/>
            <a:ext cx="2377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99C5A2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13848" y="312724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50" b="1" i="0">
                <a:solidFill>
                  <a:srgbClr val="F3F1E8"/>
                </a:solidFill>
                <a:latin typeface="Consolas"/>
              </a:defRPr>
            </a:pPr>
            <a:r>
              <a:t>RECIPIENT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3848" y="3438144"/>
            <a:ext cx="1097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69" b="0" i="0">
                <a:solidFill>
                  <a:srgbClr val="BAC4B7"/>
                </a:solidFill>
                <a:latin typeface="Arial"/>
              </a:defRPr>
            </a:pPr>
            <a:r>
              <a:t>checks bytes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69" b="0" i="0">
                <a:solidFill>
                  <a:srgbClr val="BAC4B7"/>
                </a:solidFill>
                <a:latin typeface="Arial"/>
              </a:defRPr>
            </a:pPr>
            <a:r>
              <a:t>+ reviews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065008" y="3255264"/>
            <a:ext cx="283464" cy="0"/>
          </a:xfrm>
          <a:prstGeom prst="line">
            <a:avLst/>
          </a:prstGeom>
          <a:ln w="25400">
            <a:solidFill>
              <a:srgbClr val="CFA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ight Triangle 37"/>
          <p:cNvSpPr/>
          <p:nvPr/>
        </p:nvSpPr>
        <p:spPr>
          <a:xfrm rot="2700000">
            <a:off x="8316468" y="3191256"/>
            <a:ext cx="128016" cy="128016"/>
          </a:xfrm>
          <a:prstGeom prst="rtTriangle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756648" y="3255264"/>
            <a:ext cx="283464" cy="0"/>
          </a:xfrm>
          <a:prstGeom prst="line">
            <a:avLst/>
          </a:prstGeom>
          <a:ln w="25400">
            <a:solidFill>
              <a:srgbClr val="CFA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ight Triangle 39"/>
          <p:cNvSpPr/>
          <p:nvPr/>
        </p:nvSpPr>
        <p:spPr>
          <a:xfrm rot="2700000">
            <a:off x="10008108" y="3191256"/>
            <a:ext cx="128016" cy="128016"/>
          </a:xfrm>
          <a:prstGeom prst="rtTriangle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6656832" y="4224528"/>
            <a:ext cx="4608576" cy="0"/>
          </a:xfrm>
          <a:prstGeom prst="line">
            <a:avLst/>
          </a:prstGeom>
          <a:ln w="1016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647688" y="4434840"/>
            <a:ext cx="20574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10" b="1" i="0">
                <a:solidFill>
                  <a:srgbClr val="99C5A2"/>
                </a:solidFill>
                <a:latin typeface="Consolas"/>
              </a:defRPr>
            </a:pPr>
            <a:r>
              <a:t>CRYPTOGRAPHIC CHECK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7688" y="4736592"/>
            <a:ext cx="4526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130" b="0" i="0">
                <a:solidFill>
                  <a:srgbClr val="BAC4B7"/>
                </a:solidFill>
                <a:latin typeface="Arial"/>
              </a:defRPr>
            </a:pPr>
            <a:r>
              <a:t>A valid signature and matching digest answer narrow questions; they do not prove real-world identity or truth.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1792" y="6510528"/>
            <a:ext cx="10972800" cy="0"/>
          </a:xfrm>
          <a:prstGeom prst="line">
            <a:avLst/>
          </a:prstGeom>
          <a:ln w="1016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0080" y="6583680"/>
            <a:ext cx="8961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8FA294"/>
                </a:solidFill>
                <a:latin typeface="Consolas"/>
              </a:defRPr>
            </a:pPr>
            <a:r>
              <a:t>RELAYPROOF  ·  EVIDENCE FIRST; VERDICTS NEVER WITHOUT PROOF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83680"/>
            <a:ext cx="576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8FA294"/>
                </a:solidFill>
                <a:latin typeface="Consolas"/>
              </a:defRPr>
            </a:pPr>
            <a: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layproof_video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945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19" b="1" i="0">
                <a:solidFill>
                  <a:srgbClr val="BAC4B7"/>
                </a:solidFill>
                <a:latin typeface="Consolas"/>
              </a:defRPr>
            </a:pPr>
            <a:r>
              <a:t>RELAYPROOF  /  PRODUCT BRIEF</a:t>
            </a:r>
          </a:p>
        </p:txBody>
      </p:sp>
      <p:pic>
        <p:nvPicPr>
          <p:cNvPr id="4" name="Picture 3" descr="monad-official-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173736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09760" y="23317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60" b="1" i="0">
                <a:solidFill>
                  <a:srgbClr val="BAC4B7"/>
                </a:solidFill>
                <a:latin typeface="Consolas"/>
              </a:defRPr>
            </a:pPr>
            <a:r>
              <a:t>MONAD · METROPOLIS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548640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74536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OFFICIAL BRIEF  ·  TRACK-FIT CONCEPT / PROTOTYPE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5760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02 /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713232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50" b="1" i="0">
                <a:solidFill>
                  <a:srgbClr val="CFAC74"/>
                </a:solidFill>
                <a:latin typeface="Consolas"/>
              </a:defRPr>
            </a:pPr>
            <a:r>
              <a:t>01 / METROPOLIS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95097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2550" b="1" i="0">
                <a:solidFill>
                  <a:srgbClr val="F3F1E8"/>
                </a:solidFill>
                <a:latin typeface="Arial"/>
              </a:defRPr>
            </a:pPr>
            <a:r>
              <a:t>The brief: four tracks, one selected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53896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20" b="0" i="0">
                <a:solidFill>
                  <a:srgbClr val="BAC4B7"/>
                </a:solidFill>
                <a:latin typeface="Arial"/>
              </a:defRPr>
            </a:pPr>
            <a:r>
              <a:t>Track 04: Trust, Identity &amp; AI Infrastructure · Global online, 1 Sep–13 Oct 2026.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10512"/>
            <a:ext cx="10899648" cy="704088"/>
          </a:xfrm>
          <a:prstGeom prst="roundRect">
            <a:avLst/>
          </a:prstGeom>
          <a:solidFill>
            <a:srgbClr val="1B4032"/>
          </a:solidFill>
          <a:ln w="10160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901952"/>
            <a:ext cx="1037844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60" b="1" i="0">
                <a:solidFill>
                  <a:srgbClr val="F3F1E8"/>
                </a:solidFill>
                <a:latin typeface="Arial"/>
              </a:defRPr>
            </a:pPr>
            <a:r>
              <a:t>“AI has made identity, provenance, data ownership, and agent trust urgent infrastructure problems.”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79192"/>
            <a:ext cx="2633472" cy="841248"/>
          </a:xfrm>
          <a:prstGeom prst="roundRect">
            <a:avLst/>
          </a:prstGeom>
          <a:solidFill>
            <a:srgbClr val="15362B"/>
          </a:solidFill>
          <a:ln w="8255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" y="2807208"/>
            <a:ext cx="82296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39212"/>
            <a:ext cx="67665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88B7BA"/>
                </a:solidFill>
                <a:latin typeface="Consolas"/>
              </a:defRPr>
            </a:pPr>
            <a:r>
              <a:t>TRACK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136392"/>
            <a:ext cx="2359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40" b="1" i="0">
                <a:solidFill>
                  <a:srgbClr val="F3F1E8"/>
                </a:solidFill>
                <a:latin typeface="Consolas"/>
              </a:defRPr>
            </a:pPr>
            <a:r>
              <a:t>ONCHAIN FINANCE &amp; TRADING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337560"/>
            <a:ext cx="23591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90" b="0" i="0">
                <a:solidFill>
                  <a:srgbClr val="BAC4B7"/>
                </a:solidFill>
                <a:latin typeface="Arial"/>
              </a:defRPr>
            </a:pPr>
            <a:r>
              <a:t>Onchain markets, lending, trading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679192"/>
            <a:ext cx="2633472" cy="841248"/>
          </a:xfrm>
          <a:prstGeom prst="roundRect">
            <a:avLst/>
          </a:prstGeom>
          <a:solidFill>
            <a:srgbClr val="15362B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2807208"/>
            <a:ext cx="82296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2839212"/>
            <a:ext cx="67665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CFAC74"/>
                </a:solidFill>
                <a:latin typeface="Consolas"/>
              </a:defRPr>
            </a:pPr>
            <a:r>
              <a:t>TRACK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136392"/>
            <a:ext cx="2359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40" b="1" i="0">
                <a:solidFill>
                  <a:srgbClr val="F3F1E8"/>
                </a:solidFill>
                <a:latin typeface="Consolas"/>
              </a:defRPr>
            </a:pPr>
            <a:r>
              <a:t>CONSUMER PRODUCTS &amp; 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337560"/>
            <a:ext cx="23591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90" b="0" i="0">
                <a:solidFill>
                  <a:srgbClr val="BAC4B7"/>
                </a:solidFill>
                <a:latin typeface="Arial"/>
              </a:defRPr>
            </a:pPr>
            <a:r>
              <a:t>Invisible, programmable payments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1" y="2679192"/>
            <a:ext cx="2633472" cy="841248"/>
          </a:xfrm>
          <a:prstGeom prst="roundRect">
            <a:avLst/>
          </a:prstGeom>
          <a:solidFill>
            <a:srgbClr val="15362B"/>
          </a:solidFill>
          <a:ln w="8255">
            <a:solidFill>
              <a:srgbClr val="C3A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36792" y="2807208"/>
            <a:ext cx="82296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3A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2839212"/>
            <a:ext cx="67665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C3ADD0"/>
                </a:solidFill>
                <a:latin typeface="Consolas"/>
              </a:defRPr>
            </a:pPr>
            <a:r>
              <a:t>TRACK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136392"/>
            <a:ext cx="2359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40" b="1" i="0">
                <a:solidFill>
                  <a:srgbClr val="F3F1E8"/>
                </a:solidFill>
                <a:latin typeface="Consolas"/>
              </a:defRPr>
            </a:pPr>
            <a:r>
              <a:t>SOCIAL, ATTENTION &amp; CULTURE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337560"/>
            <a:ext cx="23591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90" b="0" i="0">
                <a:solidFill>
                  <a:srgbClr val="BAC4B7"/>
                </a:solidFill>
                <a:latin typeface="Arial"/>
              </a:defRPr>
            </a:pPr>
            <a:r>
              <a:t>Social graphs, incentives, culture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0264" y="2679192"/>
            <a:ext cx="2633472" cy="841248"/>
          </a:xfrm>
          <a:prstGeom prst="roundRect">
            <a:avLst/>
          </a:prstGeom>
          <a:solidFill>
            <a:srgbClr val="1B4032"/>
          </a:solidFill>
          <a:ln w="13335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07424" y="2807208"/>
            <a:ext cx="82296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2839212"/>
            <a:ext cx="67665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99C5A2"/>
                </a:solidFill>
                <a:latin typeface="Consolas"/>
              </a:defRPr>
            </a:pPr>
            <a:r>
              <a:t>TRACK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3136392"/>
            <a:ext cx="2359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40" b="1" i="0">
                <a:solidFill>
                  <a:srgbClr val="F3F1E8"/>
                </a:solidFill>
                <a:latin typeface="Consolas"/>
              </a:defRPr>
            </a:pPr>
            <a:r>
              <a:t>TRUST &amp; AI 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3337560"/>
            <a:ext cx="23591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90" b="0" i="0">
                <a:solidFill>
                  <a:srgbClr val="BAC4B7"/>
                </a:solidFill>
                <a:latin typeface="Arial"/>
              </a:defRPr>
            </a:pPr>
            <a:r>
              <a:t>Identity, provenance, agents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721608"/>
            <a:ext cx="5486400" cy="2331720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8680" y="3913632"/>
            <a:ext cx="201168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3945636"/>
            <a:ext cx="186537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0" i="0">
                <a:solidFill>
                  <a:srgbClr val="99C5A2"/>
                </a:solidFill>
                <a:latin typeface="Consolas"/>
              </a:defRPr>
            </a:pPr>
            <a:r>
              <a:t>TRACK 04 · EXAMPLE PROMPTS</a:t>
            </a:r>
          </a:p>
        </p:txBody>
      </p:sp>
      <p:sp>
        <p:nvSpPr>
          <p:cNvPr id="38" name="Oval 37"/>
          <p:cNvSpPr/>
          <p:nvPr/>
        </p:nvSpPr>
        <p:spPr>
          <a:xfrm>
            <a:off x="896112" y="4421124"/>
            <a:ext cx="77724" cy="77724"/>
          </a:xfrm>
          <a:prstGeom prst="ellipse">
            <a:avLst/>
          </a:prstGeom>
          <a:solidFill>
            <a:srgbClr val="88B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" y="4325112"/>
            <a:ext cx="478231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120" b="0" i="0">
                <a:solidFill>
                  <a:srgbClr val="F3F1E8"/>
                </a:solidFill>
                <a:latin typeface="Arial"/>
              </a:defRPr>
            </a:pPr>
            <a:r>
              <a:t>Passkey-native P-256 + WebAuthn accounts, without a seed phrase.</a:t>
            </a:r>
          </a:p>
        </p:txBody>
      </p:sp>
      <p:sp>
        <p:nvSpPr>
          <p:cNvPr id="40" name="Oval 39"/>
          <p:cNvSpPr/>
          <p:nvPr/>
        </p:nvSpPr>
        <p:spPr>
          <a:xfrm>
            <a:off x="896112" y="4896612"/>
            <a:ext cx="77724" cy="77724"/>
          </a:xfrm>
          <a:prstGeom prst="ellipse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" y="4800600"/>
            <a:ext cx="47823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120" b="0" i="0">
                <a:solidFill>
                  <a:srgbClr val="F3F1E8"/>
                </a:solidFill>
                <a:latin typeface="Arial"/>
              </a:defRPr>
            </a:pPr>
            <a:r>
              <a:t>Agent identity and reputation under ERC-8004.</a:t>
            </a:r>
          </a:p>
        </p:txBody>
      </p:sp>
      <p:sp>
        <p:nvSpPr>
          <p:cNvPr id="42" name="Oval 41"/>
          <p:cNvSpPr/>
          <p:nvPr/>
        </p:nvSpPr>
        <p:spPr>
          <a:xfrm>
            <a:off x="896112" y="5335524"/>
            <a:ext cx="77724" cy="77724"/>
          </a:xfrm>
          <a:prstGeom prst="ellipse">
            <a:avLst/>
          </a:prstGeom>
          <a:solidFill>
            <a:srgbClr val="DD8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" y="5239512"/>
            <a:ext cx="47823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120" b="0" i="0">
                <a:solidFill>
                  <a:srgbClr val="F3F1E8"/>
                </a:solidFill>
                <a:latin typeface="Arial"/>
              </a:defRPr>
            </a:pPr>
            <a:r>
              <a:t>Generated-media provenance that survives re-encoding.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27648" y="3721608"/>
            <a:ext cx="5230368" cy="2331720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56248" y="3913632"/>
            <a:ext cx="123444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3945636"/>
            <a:ext cx="108813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0" i="0">
                <a:solidFill>
                  <a:srgbClr val="CFAC74"/>
                </a:solidFill>
                <a:latin typeface="Consolas"/>
              </a:defRPr>
            </a:pPr>
            <a:r>
              <a:t>RELAYPROOF FIT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429768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40" b="1" i="0">
                <a:solidFill>
                  <a:srgbClr val="F3F1E8"/>
                </a:solidFill>
                <a:latin typeface="Arial"/>
              </a:defRPr>
            </a:pPr>
            <a:r>
              <a:t>Targets the media-provenance prompt — but does not yet satisfy its re-encoding requirement.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4919472"/>
            <a:ext cx="4590288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70" b="0" i="0">
                <a:solidFill>
                  <a:srgbClr val="BAC4B7"/>
                </a:solidFill>
                <a:latin typeface="Arial"/>
              </a:defRPr>
            </a:pPr>
            <a:r>
              <a:t>Today: self-asserted publisher claim + signed SHA-256 of exact bytes. Re-encoding changes the digest; Chromaprint is only an uncalibrated audio-similarity hint. No C2PA/SBR recovery or Monad anchor is connected.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6172200"/>
            <a:ext cx="7132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88B7BA"/>
                </a:solidFill>
                <a:latin typeface="Arial"/>
                <a:hlinkClick r:id="rId4"/>
              </a:rPr>
              <a:t>Official Metropolis prompt: monad.xyz/developers/hackathons/metropolis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layproof_video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945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19" b="1" i="0">
                <a:solidFill>
                  <a:srgbClr val="BAC4B7"/>
                </a:solidFill>
                <a:latin typeface="Consolas"/>
              </a:defRPr>
            </a:pPr>
            <a:r>
              <a:t>RELAYPROOF  /  PRODUCT BRIEF</a:t>
            </a:r>
          </a:p>
        </p:txBody>
      </p:sp>
      <p:pic>
        <p:nvPicPr>
          <p:cNvPr id="4" name="Picture 3" descr="monad-official-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173736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09760" y="23317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60" b="1" i="0">
                <a:solidFill>
                  <a:srgbClr val="BAC4B7"/>
                </a:solidFill>
                <a:latin typeface="Consolas"/>
              </a:defRPr>
            </a:pPr>
            <a:r>
              <a:t>MONAD · METROPOLIS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548640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74536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PROBLEM  ·  TRACK-FIT CONCEPT / PROTOTYPE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5760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03 /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713232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50" b="1" i="0">
                <a:solidFill>
                  <a:srgbClr val="CFAC74"/>
                </a:solidFill>
                <a:latin typeface="Consolas"/>
              </a:defRPr>
            </a:pPr>
            <a:r>
              <a:t>02 / USER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95097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2550" b="1" i="0">
                <a:solidFill>
                  <a:srgbClr val="F3F1E8"/>
                </a:solidFill>
                <a:latin typeface="Arial"/>
              </a:defRPr>
            </a:pPr>
            <a:r>
              <a:t>Media loses context as it moves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53896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20" b="0" i="0">
                <a:solidFill>
                  <a:srgbClr val="BAC4B7"/>
                </a:solidFill>
                <a:latin typeface="Arial"/>
              </a:defRPr>
            </a:pPr>
            <a:r>
              <a:t>A forwarded voice note or clip can arrive without dependable, portable source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883664"/>
            <a:ext cx="2962656" cy="932688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2029968"/>
            <a:ext cx="96012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061972"/>
            <a:ext cx="81381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88B7BA"/>
                </a:solidFill>
                <a:latin typeface="Consolas"/>
              </a:defRPr>
            </a:pPr>
            <a: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359152"/>
            <a:ext cx="26334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180" b="1" i="0">
                <a:solidFill>
                  <a:srgbClr val="F3F1E8"/>
                </a:solidFill>
                <a:latin typeface="Arial"/>
              </a:defRPr>
            </a:pPr>
            <a:r>
              <a:t>Publisher selects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80" b="1" i="0">
                <a:solidFill>
                  <a:srgbClr val="F3F1E8"/>
                </a:solidFill>
                <a:latin typeface="Arial"/>
              </a:defRPr>
            </a:pPr>
            <a:r>
              <a:t>audio / video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2816" y="1883664"/>
            <a:ext cx="2962656" cy="932688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7407" y="2029968"/>
            <a:ext cx="96012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2061972"/>
            <a:ext cx="81381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CFAC74"/>
                </a:solidFill>
                <a:latin typeface="Consolas"/>
              </a:defRPr>
            </a:pPr>
            <a: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2359152"/>
            <a:ext cx="26334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180" b="1" i="0">
                <a:solidFill>
                  <a:srgbClr val="F3F1E8"/>
                </a:solidFill>
                <a:latin typeface="Arial"/>
              </a:defRPr>
            </a:pPr>
            <a:r>
              <a:t>Transcode · trim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80" b="1" i="0">
                <a:solidFill>
                  <a:srgbClr val="F3F1E8"/>
                </a:solidFill>
                <a:latin typeface="Arial"/>
              </a:defRPr>
            </a:pPr>
            <a:r>
              <a:t>repost · screenshot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883664"/>
            <a:ext cx="2962656" cy="932688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36992" y="2029968"/>
            <a:ext cx="96012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2061972"/>
            <a:ext cx="81381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99C5A2"/>
                </a:solidFill>
                <a:latin typeface="Consolas"/>
              </a:defRPr>
            </a:pPr>
            <a:r>
              <a:t>RECIPIENT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2359152"/>
            <a:ext cx="26334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180" b="1" i="0">
                <a:solidFill>
                  <a:srgbClr val="F3F1E8"/>
                </a:solidFill>
                <a:latin typeface="Arial"/>
              </a:defRPr>
            </a:pPr>
            <a:r>
              <a:t>Needs to assess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80" b="1" i="0">
                <a:solidFill>
                  <a:srgbClr val="F3F1E8"/>
                </a:solidFill>
                <a:latin typeface="Arial"/>
              </a:defRPr>
            </a:pPr>
            <a:r>
              <a:t>source + media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03320" y="2350008"/>
            <a:ext cx="448056" cy="0"/>
          </a:xfrm>
          <a:prstGeom prst="line">
            <a:avLst/>
          </a:prstGeom>
          <a:ln w="21590">
            <a:solidFill>
              <a:srgbClr val="CFA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ight Triangle 25"/>
          <p:cNvSpPr/>
          <p:nvPr/>
        </p:nvSpPr>
        <p:spPr>
          <a:xfrm rot="2700000">
            <a:off x="4133088" y="2286000"/>
            <a:ext cx="118872" cy="118872"/>
          </a:xfrm>
          <a:prstGeom prst="rtTriangle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232904" y="2350008"/>
            <a:ext cx="448056" cy="0"/>
          </a:xfrm>
          <a:prstGeom prst="line">
            <a:avLst/>
          </a:prstGeom>
          <a:ln w="21590">
            <a:solidFill>
              <a:srgbClr val="CFA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Triangle 27"/>
          <p:cNvSpPr/>
          <p:nvPr/>
        </p:nvSpPr>
        <p:spPr>
          <a:xfrm rot="2700000">
            <a:off x="7662672" y="2286000"/>
            <a:ext cx="118872" cy="118872"/>
          </a:xfrm>
          <a:prstGeom prst="rtTriangle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3232" y="3127248"/>
            <a:ext cx="3456432" cy="1554480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291840"/>
            <a:ext cx="36576" cy="1225295"/>
          </a:xfrm>
          <a:prstGeom prst="rect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6968" y="3264408"/>
            <a:ext cx="8412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296412"/>
            <a:ext cx="6949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CFAC74"/>
                </a:solidFill>
                <a:latin typeface="Consolas"/>
              </a:defRPr>
            </a:pPr>
            <a:r>
              <a:t>INTEGRITY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3621024"/>
            <a:ext cx="31181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20" b="1" i="0">
                <a:solidFill>
                  <a:srgbClr val="F3F1E8"/>
                </a:solidFill>
                <a:latin typeface="Arial"/>
              </a:defRPr>
            </a:pPr>
            <a:r>
              <a:t>Bytes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059935"/>
            <a:ext cx="3108960" cy="5120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00" b="0" i="0">
                <a:solidFill>
                  <a:srgbClr val="BAC4B7"/>
                </a:solidFill>
                <a:latin typeface="Arial"/>
              </a:defRPr>
            </a:pPr>
            <a:r>
              <a:t>Exact SHA-256 is strong for the original file; a transcode normally produces a different digest.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0832" y="3127248"/>
            <a:ext cx="3456432" cy="1554480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3291840"/>
            <a:ext cx="36576" cy="1225295"/>
          </a:xfrm>
          <a:prstGeom prst="rect">
            <a:avLst/>
          </a:prstGeom>
          <a:solidFill>
            <a:srgbClr val="88B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44568" y="3264408"/>
            <a:ext cx="8412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3296412"/>
            <a:ext cx="6949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88B7BA"/>
                </a:solidFill>
                <a:latin typeface="Consolas"/>
              </a:defRPr>
            </a:pPr>
            <a:r>
              <a:t>IDENTITY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3621024"/>
            <a:ext cx="31181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20" b="1" i="0">
                <a:solidFill>
                  <a:srgbClr val="F3F1E8"/>
                </a:solidFill>
                <a:latin typeface="Arial"/>
              </a:defRPr>
            </a:pPr>
            <a:r>
              <a:t>A key is not a person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4568" y="4059935"/>
            <a:ext cx="3108960" cy="5120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00" b="0" i="0">
                <a:solidFill>
                  <a:srgbClr val="BAC4B7"/>
                </a:solidFill>
                <a:latin typeface="Arial"/>
              </a:defRPr>
            </a:pPr>
            <a:r>
              <a:t>The sidecar embeds a self-asserted public key. A valid signature does not establish real-world publisher identity.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8431" y="3127248"/>
            <a:ext cx="3456432" cy="1554480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19" y="3291840"/>
            <a:ext cx="36576" cy="1225295"/>
          </a:xfrm>
          <a:prstGeom prst="rect">
            <a:avLst/>
          </a:prstGeom>
          <a:solidFill>
            <a:srgbClr val="DD8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02167" y="3264408"/>
            <a:ext cx="8412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DD8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19" y="3296412"/>
            <a:ext cx="6949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DD8B78"/>
                </a:solidFill>
                <a:latin typeface="Consolas"/>
              </a:defRPr>
            </a:pPr>
            <a:r>
              <a:t>CONTENT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2167" y="3621024"/>
            <a:ext cx="31181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20" b="1" i="0">
                <a:solidFill>
                  <a:srgbClr val="F3F1E8"/>
                </a:solidFill>
                <a:latin typeface="Arial"/>
              </a:defRPr>
            </a:pPr>
            <a:r>
              <a:t>Evidence is not truth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02167" y="4059935"/>
            <a:ext cx="3108960" cy="5120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00" b="0" i="0">
                <a:solidFill>
                  <a:srgbClr val="BAC4B7"/>
                </a:solidFill>
                <a:latin typeface="Arial"/>
              </a:defRPr>
            </a:pPr>
            <a:r>
              <a:t>Transcript, OCR, and phrase flags can miss context; they do not fact-check claims or approve SEBI compliance.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4828032"/>
            <a:ext cx="10771632" cy="987552"/>
          </a:xfrm>
          <a:prstGeom prst="roundRect">
            <a:avLst/>
          </a:prstGeom>
          <a:solidFill>
            <a:srgbClr val="1B4032"/>
          </a:solidFill>
          <a:ln w="10160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32688" y="5010912"/>
            <a:ext cx="1627632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5042916"/>
            <a:ext cx="1481328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0" i="0">
                <a:solidFill>
                  <a:srgbClr val="99C5A2"/>
                </a:solidFill>
                <a:latin typeface="Consolas"/>
              </a:defRPr>
            </a:pPr>
            <a:r>
              <a:t>PRODUCT HYPOTHESIS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" y="5321808"/>
            <a:ext cx="101041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60" b="1" i="0">
                <a:solidFill>
                  <a:srgbClr val="F3F1E8"/>
                </a:solidFill>
                <a:latin typeface="Arial"/>
              </a:defRPr>
            </a:pPr>
            <a:r>
              <a:t>Separate source claims, exact-byte integrity, candidate similarity, and human review—showing what each signal can and cannot prove.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6044184"/>
            <a:ext cx="104241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40" b="1" i="0">
                <a:solidFill>
                  <a:srgbClr val="DD8B78"/>
                </a:solidFill>
                <a:latin typeface="Consolas"/>
              </a:defRPr>
            </a:pPr>
            <a:r>
              <a:t>Critical gap: post-re-encoding provenance is the official Track 04 ambition; the prototype has not delivered that capability.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layproof_video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945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19" b="1" i="0">
                <a:solidFill>
                  <a:srgbClr val="BAC4B7"/>
                </a:solidFill>
                <a:latin typeface="Consolas"/>
              </a:defRPr>
            </a:pPr>
            <a:r>
              <a:t>RELAYPROOF  /  PRODUCT BRIEF</a:t>
            </a:r>
          </a:p>
        </p:txBody>
      </p:sp>
      <p:pic>
        <p:nvPicPr>
          <p:cNvPr id="4" name="Picture 3" descr="monad-official-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173736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09760" y="23317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60" b="1" i="0">
                <a:solidFill>
                  <a:srgbClr val="BAC4B7"/>
                </a:solidFill>
                <a:latin typeface="Consolas"/>
              </a:defRPr>
            </a:pPr>
            <a:r>
              <a:t>MONAD · METROPOLIS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548640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74536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PRODUCT  ·  TRACK-FIT CONCEPT / PROTOTYPE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5760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04 /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713232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50" b="1" i="0">
                <a:solidFill>
                  <a:srgbClr val="CFAC74"/>
                </a:solidFill>
                <a:latin typeface="Consolas"/>
              </a:defRPr>
            </a:pPr>
            <a:r>
              <a:t>03 /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95097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2550" b="1" i="0">
                <a:solidFill>
                  <a:srgbClr val="F3F1E8"/>
                </a:solidFill>
                <a:latin typeface="Arial"/>
              </a:defRPr>
            </a:pPr>
            <a:r>
              <a:t>Six features, with clear evidence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53896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20" b="0" i="0">
                <a:solidFill>
                  <a:srgbClr val="BAC4B7"/>
                </a:solidFill>
                <a:latin typeface="Arial"/>
              </a:defRPr>
            </a:pPr>
            <a:r>
              <a:t>The prototype keeps cryptographic checks separate from optional matching and human content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3502152" cy="1627632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2039112"/>
            <a:ext cx="36576" cy="1298448"/>
          </a:xfrm>
          <a:prstGeom prst="rect">
            <a:avLst/>
          </a:prstGeom>
          <a:solidFill>
            <a:srgbClr val="99C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3" y="2011679"/>
            <a:ext cx="8412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5" y="2043684"/>
            <a:ext cx="6949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99C5A2"/>
                </a:solidFill>
                <a:latin typeface="Consolas"/>
              </a:defRPr>
            </a:pPr>
            <a:r>
              <a:t>ISSUE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" y="2368296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500" b="1" i="0">
                <a:solidFill>
                  <a:srgbClr val="F3F1E8"/>
                </a:solidFill>
                <a:latin typeface="Arial"/>
              </a:defRPr>
            </a:pPr>
            <a:r>
              <a:t>Sign a source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" y="2807208"/>
            <a:ext cx="3154680" cy="5852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50" b="0" i="0">
                <a:solidFill>
                  <a:srgbClr val="BAC4B7"/>
                </a:solidFill>
                <a:latin typeface="Arial"/>
              </a:defRPr>
            </a:pPr>
            <a:r>
              <a:t>Audio/video up to 128 MB. Local ECDSA P-256 key signs a self-asserted claim and whole-file SHA-256; export JSON sidecar.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874519"/>
            <a:ext cx="3502152" cy="1627632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1688" y="2039112"/>
            <a:ext cx="36576" cy="1298448"/>
          </a:xfrm>
          <a:prstGeom prst="rect">
            <a:avLst/>
          </a:prstGeom>
          <a:solidFill>
            <a:srgbClr val="88B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17136" y="2011679"/>
            <a:ext cx="8412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2043684"/>
            <a:ext cx="6949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88B7BA"/>
                </a:solidFill>
                <a:latin typeface="Consolas"/>
              </a:defRPr>
            </a:pPr>
            <a: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2368296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500" b="1" i="0">
                <a:solidFill>
                  <a:srgbClr val="F3F1E8"/>
                </a:solidFill>
                <a:latin typeface="Arial"/>
              </a:defRPr>
            </a:pPr>
            <a:r>
              <a:t>Two separate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2807208"/>
            <a:ext cx="3154680" cy="5852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50" b="0" i="0">
                <a:solidFill>
                  <a:srgbClr val="BAC4B7"/>
                </a:solidFill>
                <a:latin typeface="Arial"/>
              </a:defRPr>
            </a:pPr>
            <a:r>
              <a:t>Verify the signature against its included public key, then compare exact-file bytes. A local key pin is only a reminder on this device.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874519"/>
            <a:ext cx="3502152" cy="1627632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2039112"/>
            <a:ext cx="36576" cy="1298448"/>
          </a:xfrm>
          <a:prstGeom prst="rect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02167" y="2011679"/>
            <a:ext cx="8412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2043684"/>
            <a:ext cx="6949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CFAC74"/>
                </a:solidFill>
                <a:latin typeface="Consolas"/>
              </a:defRPr>
            </a:pPr>
            <a:r>
              <a:t>ARCHIVE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7" y="2368296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500" b="1" i="0">
                <a:solidFill>
                  <a:srgbClr val="F3F1E8"/>
                </a:solidFill>
                <a:latin typeface="Arial"/>
              </a:defRPr>
            </a:pPr>
            <a:r>
              <a:t>Browser-scoped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7" y="2807208"/>
            <a:ext cx="3154680" cy="5852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50" b="0" i="0">
                <a:solidFill>
                  <a:srgbClr val="BAC4B7"/>
                </a:solidFill>
                <a:latin typeface="Arial"/>
              </a:defRPr>
            </a:pPr>
            <a:r>
              <a:t>Reopen or export issued sidecars from this browser. Browser storage is not a backup; keep sidecars separately.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675887"/>
            <a:ext cx="3502152" cy="1755648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" y="3840479"/>
            <a:ext cx="36576" cy="1426464"/>
          </a:xfrm>
          <a:prstGeom prst="rect">
            <a:avLst/>
          </a:prstGeom>
          <a:solidFill>
            <a:srgbClr val="C3A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2103" y="3813048"/>
            <a:ext cx="93823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3A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5" y="3845052"/>
            <a:ext cx="79193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C3ADD0"/>
                </a:solidFill>
                <a:latin typeface="Consolas"/>
              </a:defRPr>
            </a:pPr>
            <a:r>
              <a:t>CHROMAPRINT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" y="4169663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70" b="1" i="0">
                <a:solidFill>
                  <a:srgbClr val="F3F1E8"/>
                </a:solidFill>
                <a:latin typeface="Arial"/>
              </a:defRPr>
            </a:pPr>
            <a:r>
              <a:t>Candidate audio 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" y="4608575"/>
            <a:ext cx="3154680" cy="7132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40" b="0" i="0">
                <a:solidFill>
                  <a:srgbClr val="BAC4B7"/>
                </a:solidFill>
                <a:latin typeface="Arial"/>
              </a:defRPr>
            </a:pPr>
            <a:r>
              <a:t>Optional self-hosted fingerprint of up to 120 seconds. Similarity is uncalibrated; no threshold, identity, truth, or authentication verdict.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3675887"/>
            <a:ext cx="3502152" cy="1755648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61688" y="3840479"/>
            <a:ext cx="36576" cy="1426464"/>
          </a:xfrm>
          <a:prstGeom prst="rect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17136" y="3813048"/>
            <a:ext cx="1109331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0288" y="3845052"/>
            <a:ext cx="963027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CFAC74"/>
                </a:solidFill>
                <a:latin typeface="Consolas"/>
              </a:defRPr>
            </a:pPr>
            <a:r>
              <a:t>CONTENT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7136" y="4169663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70" b="1" i="0">
                <a:solidFill>
                  <a:srgbClr val="F3F1E8"/>
                </a:solidFill>
                <a:latin typeface="Arial"/>
              </a:defRPr>
            </a:pPr>
            <a:r>
              <a:t>Transcript + preflight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7136" y="4608575"/>
            <a:ext cx="3154680" cy="7132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40" b="0" i="0">
                <a:solidFill>
                  <a:srgbClr val="BAC4B7"/>
                </a:solidFill>
                <a:latin typeface="Arial"/>
              </a:defRPr>
            </a:pPr>
            <a:r>
              <a:t>Import captions or text; optional local Whisper. Limited English phrase rules surface selected risk language, numbers, and dates for human checking.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1" y="3675887"/>
            <a:ext cx="3502152" cy="1755648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19" y="3840479"/>
            <a:ext cx="36576" cy="1426464"/>
          </a:xfrm>
          <a:prstGeom prst="rect">
            <a:avLst/>
          </a:prstGeom>
          <a:solidFill>
            <a:srgbClr val="DD8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02167" y="3813048"/>
            <a:ext cx="8412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DD8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19" y="3845052"/>
            <a:ext cx="6949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DD8B78"/>
                </a:solidFill>
                <a:latin typeface="Consolas"/>
              </a:defRPr>
            </a:pPr>
            <a:r>
              <a:t>VIDEO OCR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2167" y="4169663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70" b="1" i="0">
                <a:solidFill>
                  <a:srgbClr val="F3F1E8"/>
                </a:solidFill>
                <a:latin typeface="Arial"/>
              </a:defRPr>
            </a:pPr>
            <a:r>
              <a:t>Sampled stills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2167" y="4608575"/>
            <a:ext cx="3154680" cy="7132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40" b="0" i="0">
                <a:solidFill>
                  <a:srgbClr val="BAC4B7"/>
                </a:solidFill>
                <a:latin typeface="Arial"/>
              </a:defRPr>
            </a:pPr>
            <a:r>
              <a:t>Up to 24 spaced frames sent to local Tesseract after a click. Timestamped English OCR can miss brief, small, stylized, or non-English text.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6656" y="5650992"/>
            <a:ext cx="10863072" cy="402336"/>
          </a:xfrm>
          <a:prstGeom prst="roundRect">
            <a:avLst/>
          </a:prstGeom>
          <a:solidFill>
            <a:srgbClr val="1B4032"/>
          </a:solidFill>
          <a:ln w="6985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" y="5751576"/>
            <a:ext cx="10479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10" b="1" i="0">
                <a:solidFill>
                  <a:srgbClr val="F3F1E8"/>
                </a:solidFill>
                <a:latin typeface="Arial"/>
              </a:defRPr>
            </a:pPr>
            <a:r>
              <a:t>No feature returns “SEBI approved” or “good to go.” Risk rules vary by speaker role, content type, date, and context; human review is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layproof_video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945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19" b="1" i="0">
                <a:solidFill>
                  <a:srgbClr val="BAC4B7"/>
                </a:solidFill>
                <a:latin typeface="Consolas"/>
              </a:defRPr>
            </a:pPr>
            <a:r>
              <a:t>RELAYPROOF  /  PRODUCT BRIEF</a:t>
            </a:r>
          </a:p>
        </p:txBody>
      </p:sp>
      <p:pic>
        <p:nvPicPr>
          <p:cNvPr id="4" name="Picture 3" descr="monad-official-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173736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09760" y="23317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60" b="1" i="0">
                <a:solidFill>
                  <a:srgbClr val="BAC4B7"/>
                </a:solidFill>
                <a:latin typeface="Consolas"/>
              </a:defRPr>
            </a:pPr>
            <a:r>
              <a:t>MONAD · METROPOLIS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548640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74536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ARCHITECTURE + EXTENSION  ·  TRACK-FIT CONCEPT / PROTOTYPE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5760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05 /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713232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50" b="1" i="0">
                <a:solidFill>
                  <a:srgbClr val="CFAC74"/>
                </a:solidFill>
                <a:latin typeface="Consolas"/>
              </a:defRPr>
            </a:pPr>
            <a:r>
              <a:t>04 /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95097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2550" b="1" i="0">
                <a:solidFill>
                  <a:srgbClr val="F3F1E8"/>
                </a:solidFill>
                <a:latin typeface="Arial"/>
              </a:defRPr>
            </a:pPr>
            <a:r>
              <a:t>Local-first checks, user-initiated media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53896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20" b="0" i="0">
                <a:solidFill>
                  <a:srgbClr val="BAC4B7"/>
                </a:solidFill>
                <a:latin typeface="Arial"/>
              </a:defRPr>
            </a:pPr>
            <a:r>
              <a:t>Exact checks stay in the browser; optional media tasks go to the user’s own local service.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1847088"/>
            <a:ext cx="3163824" cy="987552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" y="1993392"/>
            <a:ext cx="192024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025396"/>
            <a:ext cx="177393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70" b="0" i="0">
                <a:solidFill>
                  <a:srgbClr val="88B7BA"/>
                </a:solidFill>
                <a:latin typeface="Consolas"/>
              </a:defRPr>
            </a:pPr>
            <a:r>
              <a:t>PUBLISHER /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322576"/>
            <a:ext cx="28346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70" b="1" i="0">
                <a:solidFill>
                  <a:srgbClr val="F3F1E8"/>
                </a:solidFill>
                <a:latin typeface="Arial"/>
              </a:defRPr>
            </a:pPr>
            <a:r>
              <a:t>Select media + sidecar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70" b="1" i="0">
                <a:solidFill>
                  <a:srgbClr val="F3F1E8"/>
                </a:solidFill>
                <a:latin typeface="Arial"/>
              </a:defRPr>
            </a:pPr>
            <a:r>
              <a:t>Choose task explicitly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1847088"/>
            <a:ext cx="3163824" cy="987552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79" y="1993392"/>
            <a:ext cx="192024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2025396"/>
            <a:ext cx="177393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70" b="0" i="0">
                <a:solidFill>
                  <a:srgbClr val="99C5A2"/>
                </a:solidFill>
                <a:latin typeface="Consolas"/>
              </a:defRPr>
            </a:pPr>
            <a:r>
              <a:t>BROWSER / EXTENSION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2322576"/>
            <a:ext cx="28346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70" b="1" i="0">
                <a:solidFill>
                  <a:srgbClr val="F3F1E8"/>
                </a:solidFill>
                <a:latin typeface="Arial"/>
              </a:defRPr>
            </a:pPr>
            <a:r>
              <a:t>Sidecar signature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70" b="1" i="0">
                <a:solidFill>
                  <a:srgbClr val="F3F1E8"/>
                </a:solidFill>
                <a:latin typeface="Arial"/>
              </a:defRPr>
            </a:pPr>
            <a:r>
              <a:t>SHA-256 exact-file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1847088"/>
            <a:ext cx="3163824" cy="987552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93023" y="1993392"/>
            <a:ext cx="192024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2025396"/>
            <a:ext cx="177393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70" b="0" i="0">
                <a:solidFill>
                  <a:srgbClr val="CFAC74"/>
                </a:solidFill>
                <a:latin typeface="Consolas"/>
              </a:defRPr>
            </a:pPr>
            <a:r>
              <a:t>LOCAL API · OPTIONAL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2322576"/>
            <a:ext cx="28346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70" b="1" i="0">
                <a:solidFill>
                  <a:srgbClr val="F3F1E8"/>
                </a:solidFill>
                <a:latin typeface="Arial"/>
              </a:defRPr>
            </a:pPr>
            <a:r>
              <a:t>Chromaprint · Whisper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70" b="1" i="0">
                <a:solidFill>
                  <a:srgbClr val="F3F1E8"/>
                </a:solidFill>
                <a:latin typeface="Arial"/>
              </a:defRPr>
            </a:pPr>
            <a:r>
              <a:t>Tesseract on sampled stills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13632" y="2340864"/>
            <a:ext cx="374904" cy="0"/>
          </a:xfrm>
          <a:prstGeom prst="line">
            <a:avLst/>
          </a:prstGeom>
          <a:ln w="21590">
            <a:solidFill>
              <a:srgbClr val="CFA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ight Triangle 25"/>
          <p:cNvSpPr/>
          <p:nvPr/>
        </p:nvSpPr>
        <p:spPr>
          <a:xfrm rot="2700000">
            <a:off x="4270248" y="2276856"/>
            <a:ext cx="118872" cy="118872"/>
          </a:xfrm>
          <a:prstGeom prst="rtTriangle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580375" y="2340864"/>
            <a:ext cx="374904" cy="0"/>
          </a:xfrm>
          <a:prstGeom prst="line">
            <a:avLst/>
          </a:prstGeom>
          <a:ln w="21590">
            <a:solidFill>
              <a:srgbClr val="CFA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Triangle 27"/>
          <p:cNvSpPr/>
          <p:nvPr/>
        </p:nvSpPr>
        <p:spPr>
          <a:xfrm rot="2700000">
            <a:off x="7936992" y="2276856"/>
            <a:ext cx="118872" cy="118872"/>
          </a:xfrm>
          <a:prstGeom prst="rtTriangle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294436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50" b="0" i="0">
                <a:solidFill>
                  <a:srgbClr val="99C5A2"/>
                </a:solidFill>
                <a:latin typeface="Consolas"/>
              </a:defRPr>
            </a:pPr>
            <a:r>
              <a:t>HASH / SIGNATURE CHECKS DO NOT UPLOAD MEDIA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3300984"/>
            <a:ext cx="5230368" cy="1572768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3465576"/>
            <a:ext cx="36576" cy="1243584"/>
          </a:xfrm>
          <a:prstGeom prst="rect">
            <a:avLst/>
          </a:prstGeom>
          <a:solidFill>
            <a:srgbClr val="88B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680" y="3438144"/>
            <a:ext cx="1394487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3470148"/>
            <a:ext cx="1248183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88B7BA"/>
                </a:solidFill>
                <a:latin typeface="Consolas"/>
              </a:defRPr>
            </a:pPr>
            <a:r>
              <a:t>PATH A · LOCAL 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794760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80" b="1" i="0">
                <a:solidFill>
                  <a:srgbClr val="F3F1E8"/>
                </a:solidFill>
                <a:latin typeface="Arial"/>
              </a:defRPr>
            </a:pPr>
            <a:r>
              <a:t>Exact check, then optional compare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233672"/>
            <a:ext cx="4882896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60" b="0" i="0">
                <a:solidFill>
                  <a:srgbClr val="BAC4B7"/>
                </a:solidFill>
                <a:latin typeface="Arial"/>
              </a:defRPr>
            </a:pPr>
            <a:r>
              <a:t>Select a media file + sidecar. Verify signature and exact hash locally (up to 128 MB); if bytes differ, request an optional candidate comparison when a signed fingerprint exists.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3912" y="3300984"/>
            <a:ext cx="5038344" cy="1572768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3465576"/>
            <a:ext cx="36576" cy="1243584"/>
          </a:xfrm>
          <a:prstGeom prst="rect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27648" y="3438144"/>
            <a:ext cx="145151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470148"/>
            <a:ext cx="130521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810" b="0" i="0">
                <a:solidFill>
                  <a:srgbClr val="CFAC74"/>
                </a:solidFill>
                <a:latin typeface="Consolas"/>
              </a:defRPr>
            </a:pPr>
            <a:r>
              <a:t>PATH B · CURRENT TAB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3794760"/>
            <a:ext cx="47000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80" b="1" i="0">
                <a:solidFill>
                  <a:srgbClr val="F3F1E8"/>
                </a:solidFill>
                <a:latin typeface="Arial"/>
              </a:defRPr>
            </a:pPr>
            <a:r>
              <a:t>Capture 15 / 30 / 60 seconds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233672"/>
            <a:ext cx="4690872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60" b="0" i="0">
                <a:solidFill>
                  <a:srgbClr val="BAC4B7"/>
                </a:solidFill>
                <a:latin typeface="Arial"/>
              </a:defRPr>
            </a:pPr>
            <a:r>
              <a:t>Start playback, load a sidecar with a Chromaprint reference, click capture, and keep the popup open. Captures current tab audio; it does not download the source or exact-match its bytes.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4944" y="5193792"/>
            <a:ext cx="10497312" cy="621792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5276088"/>
            <a:ext cx="10030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69" b="0" i="0">
                <a:solidFill>
                  <a:srgbClr val="F3F1E8"/>
                </a:solidFill>
                <a:latin typeface="Arial"/>
              </a:defRPr>
            </a:pPr>
            <a:r>
              <a:t>Privacy boundary: selected media is sent only to a self-hosted local backend for opted-in fingerprinting/transcription; OCR sends sampled stills. No AcoustID lookup or cloud inference is configured.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6025896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00" b="0" i="0">
                <a:solidFill>
                  <a:srgbClr val="8FA294"/>
                </a:solidFill>
                <a:latin typeface="Consolas"/>
              </a:defRPr>
            </a:pPr>
            <a:r>
              <a:t>Manifest V3 extension · Optional services need native Chromaprint / Tesseract and faster-whisper; runtime setup not yet validated.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layproof_video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945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19" b="1" i="0">
                <a:solidFill>
                  <a:srgbClr val="BAC4B7"/>
                </a:solidFill>
                <a:latin typeface="Consolas"/>
              </a:defRPr>
            </a:pPr>
            <a:r>
              <a:t>RELAYPROOF  /  PRODUCT BRIEF</a:t>
            </a:r>
          </a:p>
        </p:txBody>
      </p:sp>
      <p:pic>
        <p:nvPicPr>
          <p:cNvPr id="4" name="Picture 3" descr="monad-official-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173736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09760" y="23317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60" b="1" i="0">
                <a:solidFill>
                  <a:srgbClr val="BAC4B7"/>
                </a:solidFill>
                <a:latin typeface="Consolas"/>
              </a:defRPr>
            </a:pPr>
            <a:r>
              <a:t>MONAD · METROPOLIS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548640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74536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FIT + ROADMAP  ·  TRACK-FIT CONCEPT / PROTOTYPE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5760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06 /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713232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50" b="1" i="0">
                <a:solidFill>
                  <a:srgbClr val="CFAC74"/>
                </a:solidFill>
                <a:latin typeface="Consolas"/>
              </a:defRPr>
            </a:pPr>
            <a:r>
              <a:t>05 / TRACK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95097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2550" b="1" i="0">
                <a:solidFill>
                  <a:srgbClr val="F3F1E8"/>
                </a:solidFill>
                <a:latin typeface="Arial"/>
              </a:defRPr>
            </a:pPr>
            <a:r>
              <a:t>What exists, what is missing, and how to close 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53896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20" b="0" i="0">
                <a:solidFill>
                  <a:srgbClr val="BAC4B7"/>
                </a:solidFill>
                <a:latin typeface="Arial"/>
              </a:defRPr>
            </a:pPr>
            <a:r>
              <a:t>The prompt’s hardest part is provenance that survives re-encoding—not merely publishing a hash on a chain.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1856231"/>
            <a:ext cx="3493008" cy="1920240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2029968"/>
            <a:ext cx="2084831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061972"/>
            <a:ext cx="1938527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80" b="0" i="0">
                <a:solidFill>
                  <a:srgbClr val="99C5A2"/>
                </a:solidFill>
                <a:latin typeface="Consolas"/>
              </a:defRPr>
            </a:pPr>
            <a:r>
              <a:t>IMPLEMENTED IN PROTOTYPE</a:t>
            </a:r>
          </a:p>
        </p:txBody>
      </p:sp>
      <p:sp>
        <p:nvSpPr>
          <p:cNvPr id="16" name="Oval 15"/>
          <p:cNvSpPr/>
          <p:nvPr/>
        </p:nvSpPr>
        <p:spPr>
          <a:xfrm>
            <a:off x="905256" y="2537460"/>
            <a:ext cx="77724" cy="77724"/>
          </a:xfrm>
          <a:prstGeom prst="ellipse">
            <a:avLst/>
          </a:prstGeom>
          <a:solidFill>
            <a:srgbClr val="99C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441448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50" b="0" i="0">
                <a:solidFill>
                  <a:srgbClr val="F3F1E8"/>
                </a:solidFill>
                <a:latin typeface="Arial"/>
              </a:defRPr>
            </a:pPr>
            <a:r>
              <a:t>ECDSA-signed sidecars + exact SHA-256.</a:t>
            </a:r>
          </a:p>
        </p:txBody>
      </p:sp>
      <p:sp>
        <p:nvSpPr>
          <p:cNvPr id="18" name="Oval 17"/>
          <p:cNvSpPr/>
          <p:nvPr/>
        </p:nvSpPr>
        <p:spPr>
          <a:xfrm>
            <a:off x="905256" y="2921508"/>
            <a:ext cx="77724" cy="77724"/>
          </a:xfrm>
          <a:prstGeom prst="ellipse">
            <a:avLst/>
          </a:prstGeom>
          <a:solidFill>
            <a:srgbClr val="99C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825496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50" b="0" i="0">
                <a:solidFill>
                  <a:srgbClr val="F3F1E8"/>
                </a:solidFill>
                <a:latin typeface="Arial"/>
              </a:defRPr>
            </a:pPr>
            <a:r>
              <a:t>Archive, verifier UI, local review flows.</a:t>
            </a:r>
          </a:p>
        </p:txBody>
      </p:sp>
      <p:sp>
        <p:nvSpPr>
          <p:cNvPr id="20" name="Oval 19"/>
          <p:cNvSpPr/>
          <p:nvPr/>
        </p:nvSpPr>
        <p:spPr>
          <a:xfrm>
            <a:off x="905256" y="3305556"/>
            <a:ext cx="77724" cy="77724"/>
          </a:xfrm>
          <a:prstGeom prst="ellipse">
            <a:avLst/>
          </a:prstGeom>
          <a:solidFill>
            <a:srgbClr val="99C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209544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80" b="0" i="0">
                <a:solidFill>
                  <a:srgbClr val="F3F1E8"/>
                </a:solidFill>
                <a:latin typeface="Arial"/>
              </a:defRPr>
            </a:pPr>
            <a:r>
              <a:t>MV3 extension code + build checks pass.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1856231"/>
            <a:ext cx="3493008" cy="1920240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62856" y="2029968"/>
            <a:ext cx="239572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2061972"/>
            <a:ext cx="224942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60" b="0" i="0">
                <a:solidFill>
                  <a:srgbClr val="CFAC74"/>
                </a:solidFill>
                <a:latin typeface="Consolas"/>
              </a:defRPr>
            </a:pPr>
            <a:r>
              <a:t>OPTIONAL · NOT RUNTIME-VALIDATED</a:t>
            </a:r>
          </a:p>
        </p:txBody>
      </p:sp>
      <p:sp>
        <p:nvSpPr>
          <p:cNvPr id="25" name="Oval 24"/>
          <p:cNvSpPr/>
          <p:nvPr/>
        </p:nvSpPr>
        <p:spPr>
          <a:xfrm>
            <a:off x="4581144" y="2537460"/>
            <a:ext cx="77724" cy="77724"/>
          </a:xfrm>
          <a:prstGeom prst="ellipse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2441448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50" b="0" i="0">
                <a:solidFill>
                  <a:srgbClr val="F3F1E8"/>
                </a:solidFill>
                <a:latin typeface="Arial"/>
              </a:defRPr>
            </a:pPr>
            <a:r>
              <a:t>Chromaprint needs local native libraries.</a:t>
            </a:r>
          </a:p>
        </p:txBody>
      </p:sp>
      <p:sp>
        <p:nvSpPr>
          <p:cNvPr id="27" name="Oval 26"/>
          <p:cNvSpPr/>
          <p:nvPr/>
        </p:nvSpPr>
        <p:spPr>
          <a:xfrm>
            <a:off x="4581144" y="2921508"/>
            <a:ext cx="77724" cy="77724"/>
          </a:xfrm>
          <a:prstGeom prst="ellipse">
            <a:avLst/>
          </a:prstGeom>
          <a:solidFill>
            <a:srgbClr val="CFA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825496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50" b="0" i="0">
                <a:solidFill>
                  <a:srgbClr val="F3F1E8"/>
                </a:solidFill>
                <a:latin typeface="Arial"/>
              </a:defRPr>
            </a:pPr>
            <a:r>
              <a:t>Whisper / Tesseract need local services.</a:t>
            </a:r>
          </a:p>
        </p:txBody>
      </p:sp>
      <p:sp>
        <p:nvSpPr>
          <p:cNvPr id="29" name="Oval 28"/>
          <p:cNvSpPr/>
          <p:nvPr/>
        </p:nvSpPr>
        <p:spPr>
          <a:xfrm>
            <a:off x="4581144" y="3305556"/>
            <a:ext cx="77724" cy="77724"/>
          </a:xfrm>
          <a:prstGeom prst="ellipse">
            <a:avLst/>
          </a:prstGeom>
          <a:solidFill>
            <a:srgbClr val="DD8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209544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50" b="0" i="0">
                <a:solidFill>
                  <a:srgbClr val="F3F1E8"/>
                </a:solidFill>
                <a:latin typeface="Arial"/>
              </a:defRPr>
            </a:pPr>
            <a:r>
              <a:t>No Chrome runtime test yet; API offline.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8431" y="1856231"/>
            <a:ext cx="3493008" cy="1920240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DD8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38744" y="2029968"/>
            <a:ext cx="138988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DD8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2061972"/>
            <a:ext cx="124358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80" b="0" i="0">
                <a:solidFill>
                  <a:srgbClr val="DD8B78"/>
                </a:solidFill>
                <a:latin typeface="Consolas"/>
              </a:defRPr>
            </a:pPr>
            <a:r>
              <a:t>NOT CONNECTED</a:t>
            </a:r>
          </a:p>
        </p:txBody>
      </p:sp>
      <p:sp>
        <p:nvSpPr>
          <p:cNvPr id="34" name="Oval 33"/>
          <p:cNvSpPr/>
          <p:nvPr/>
        </p:nvSpPr>
        <p:spPr>
          <a:xfrm>
            <a:off x="8257031" y="2537460"/>
            <a:ext cx="77724" cy="77724"/>
          </a:xfrm>
          <a:prstGeom prst="ellipse">
            <a:avLst/>
          </a:prstGeom>
          <a:solidFill>
            <a:srgbClr val="DD8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7" y="2441448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50" b="0" i="0">
                <a:solidFill>
                  <a:srgbClr val="F3F1E8"/>
                </a:solidFill>
                <a:latin typeface="Arial"/>
              </a:defRPr>
            </a:pPr>
            <a:r>
              <a:t>C2PA / watermark / SBR recovery.</a:t>
            </a:r>
          </a:p>
        </p:txBody>
      </p:sp>
      <p:sp>
        <p:nvSpPr>
          <p:cNvPr id="36" name="Oval 35"/>
          <p:cNvSpPr/>
          <p:nvPr/>
        </p:nvSpPr>
        <p:spPr>
          <a:xfrm>
            <a:off x="8257031" y="2921508"/>
            <a:ext cx="77724" cy="77724"/>
          </a:xfrm>
          <a:prstGeom prst="ellipse">
            <a:avLst/>
          </a:prstGeom>
          <a:solidFill>
            <a:srgbClr val="DD8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7" y="2825496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50" b="0" i="0">
                <a:solidFill>
                  <a:srgbClr val="F3F1E8"/>
                </a:solidFill>
                <a:latin typeface="Arial"/>
              </a:defRPr>
            </a:pPr>
            <a:r>
              <a:t>Monad contract, registry, revocation.</a:t>
            </a:r>
          </a:p>
        </p:txBody>
      </p:sp>
      <p:sp>
        <p:nvSpPr>
          <p:cNvPr id="38" name="Oval 37"/>
          <p:cNvSpPr/>
          <p:nvPr/>
        </p:nvSpPr>
        <p:spPr>
          <a:xfrm>
            <a:off x="8257031" y="3305556"/>
            <a:ext cx="77724" cy="77724"/>
          </a:xfrm>
          <a:prstGeom prst="ellipse">
            <a:avLst/>
          </a:prstGeom>
          <a:solidFill>
            <a:srgbClr val="DD8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7" y="3209544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50" b="0" i="0">
                <a:solidFill>
                  <a:srgbClr val="F3F1E8"/>
                </a:solidFill>
                <a:latin typeface="Arial"/>
              </a:defRPr>
            </a:pPr>
            <a:r>
              <a:t>No post-transcode provenance proof.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6656" y="4005072"/>
            <a:ext cx="6821424" cy="1691640"/>
          </a:xfrm>
          <a:prstGeom prst="roundRect">
            <a:avLst/>
          </a:prstGeom>
          <a:solidFill>
            <a:srgbClr val="1B4032"/>
          </a:solidFill>
          <a:ln w="8890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6112" y="4178808"/>
            <a:ext cx="2615184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" y="4210812"/>
            <a:ext cx="2468879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70" b="0" i="0">
                <a:solidFill>
                  <a:srgbClr val="88B7BA"/>
                </a:solidFill>
                <a:latin typeface="Consolas"/>
              </a:defRPr>
            </a:pPr>
            <a:r>
              <a:t>ROADMAP TO A TESTABLE TRACK-04 CLAIM</a:t>
            </a:r>
          </a:p>
        </p:txBody>
      </p:sp>
      <p:sp>
        <p:nvSpPr>
          <p:cNvPr id="43" name="Oval 42"/>
          <p:cNvSpPr/>
          <p:nvPr/>
        </p:nvSpPr>
        <p:spPr>
          <a:xfrm>
            <a:off x="914400" y="4649724"/>
            <a:ext cx="77724" cy="77724"/>
          </a:xfrm>
          <a:prstGeom prst="ellipse">
            <a:avLst/>
          </a:prstGeom>
          <a:solidFill>
            <a:srgbClr val="88B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8136" y="4553712"/>
            <a:ext cx="6135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80" b="0" i="0">
                <a:solidFill>
                  <a:srgbClr val="F3F1E8"/>
                </a:solidFill>
                <a:latin typeface="Arial"/>
              </a:defRPr>
            </a:pPr>
            <a:r>
              <a:t>1 · Integrate SBR after sanitized API docs + test vectors are provided.</a:t>
            </a:r>
          </a:p>
        </p:txBody>
      </p:sp>
      <p:sp>
        <p:nvSpPr>
          <p:cNvPr id="45" name="Oval 44"/>
          <p:cNvSpPr/>
          <p:nvPr/>
        </p:nvSpPr>
        <p:spPr>
          <a:xfrm>
            <a:off x="914400" y="5024628"/>
            <a:ext cx="77724" cy="77724"/>
          </a:xfrm>
          <a:prstGeom prst="ellipse">
            <a:avLst/>
          </a:prstGeom>
          <a:solidFill>
            <a:srgbClr val="88B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8136" y="4928616"/>
            <a:ext cx="6135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80" b="0" i="0">
                <a:solidFill>
                  <a:srgbClr val="F3F1E8"/>
                </a:solidFill>
                <a:latin typeface="Arial"/>
              </a:defRPr>
            </a:pPr>
            <a:r>
              <a:t>2 · Test Opus/AAC, trims, noise, and edits; report misses and false matches.</a:t>
            </a:r>
          </a:p>
        </p:txBody>
      </p:sp>
      <p:sp>
        <p:nvSpPr>
          <p:cNvPr id="47" name="Oval 46"/>
          <p:cNvSpPr/>
          <p:nvPr/>
        </p:nvSpPr>
        <p:spPr>
          <a:xfrm>
            <a:off x="914400" y="5399532"/>
            <a:ext cx="77724" cy="77724"/>
          </a:xfrm>
          <a:prstGeom prst="ellipse">
            <a:avLst/>
          </a:prstGeom>
          <a:solidFill>
            <a:srgbClr val="88B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8136" y="5303520"/>
            <a:ext cx="6135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80" b="0" i="0">
                <a:solidFill>
                  <a:srgbClr val="F3F1E8"/>
                </a:solidFill>
                <a:latin typeface="Arial"/>
              </a:defRPr>
            </a:pPr>
            <a:r>
              <a:t>3 · If useful, anchor digests/status on Monad; keep media/private data off-chain.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99248" y="4005072"/>
            <a:ext cx="3822191" cy="1691640"/>
          </a:xfrm>
          <a:prstGeom prst="roundRect">
            <a:avLst/>
          </a:prstGeom>
          <a:solidFill>
            <a:srgbClr val="15362B"/>
          </a:solidFill>
          <a:ln w="8890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918704" y="4178808"/>
            <a:ext cx="1975104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91856" y="4210812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70" b="0" i="0">
                <a:solidFill>
                  <a:srgbClr val="CFAC74"/>
                </a:solidFill>
                <a:latin typeface="Consolas"/>
              </a:defRPr>
            </a:pPr>
            <a:r>
              <a:t>POSITIONING · HYPOTHESIS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36992" y="4590288"/>
            <a:ext cx="331012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30" b="0" i="0">
                <a:solidFill>
                  <a:srgbClr val="BAC4B7"/>
                </a:solidFill>
                <a:latin typeface="Arial"/>
              </a:defRPr>
            </a:pPr>
            <a:r>
              <a:t>Adjacent C2PA/SBR, watermark, browser verification, and Metropolis provenance work already exist. Do not claim category-first. Test whether explicit evidence boundaries + an audio/video recipient workflow add value.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" y="5952744"/>
            <a:ext cx="104241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30" b="1" i="0">
                <a:solidFill>
                  <a:srgbClr val="DD8B78"/>
                </a:solidFill>
                <a:latin typeface="Consolas"/>
              </a:defRPr>
            </a:pPr>
            <a:r>
              <a:t>Scope choice: media provenance only; passkey and ERC-8004 examples are separate directions, not requirements for this build.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layproof_video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945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19" b="1" i="0">
                <a:solidFill>
                  <a:srgbClr val="BAC4B7"/>
                </a:solidFill>
                <a:latin typeface="Consolas"/>
              </a:defRPr>
            </a:pPr>
            <a:r>
              <a:t>RELAYPROOF  /  PRODUCT BRIEF</a:t>
            </a:r>
          </a:p>
        </p:txBody>
      </p:sp>
      <p:pic>
        <p:nvPicPr>
          <p:cNvPr id="4" name="Picture 3" descr="monad-official-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173736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09760" y="23317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60" b="1" i="0">
                <a:solidFill>
                  <a:srgbClr val="BAC4B7"/>
                </a:solidFill>
                <a:latin typeface="Consolas"/>
              </a:defRPr>
            </a:pPr>
            <a:r>
              <a:t>MONAD · METROPOLIS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548640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345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74536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EVIDENCE + NEXT STEPS  ·  TRACK-FIT CONCEPT / PROTOTYPE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5760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819" b="0" i="0">
                <a:solidFill>
                  <a:srgbClr val="8FA294"/>
                </a:solidFill>
                <a:latin typeface="Consolas"/>
              </a:defRPr>
            </a:pPr>
            <a:r>
              <a:t>07 /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713232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50" b="1" i="0">
                <a:solidFill>
                  <a:srgbClr val="CFAC74"/>
                </a:solidFill>
                <a:latin typeface="Consolas"/>
              </a:defRPr>
            </a:pPr>
            <a:r>
              <a:t>06 / DEMO +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95097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2550" b="1" i="0">
                <a:solidFill>
                  <a:srgbClr val="F3F1E8"/>
                </a:solidFill>
                <a:latin typeface="Arial"/>
              </a:defRPr>
            </a:pPr>
            <a:r>
              <a:t>Show the boundary—not just the happy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53896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20" b="0" i="0">
                <a:solidFill>
                  <a:srgbClr val="BAC4B7"/>
                </a:solidFill>
                <a:latin typeface="Arial"/>
              </a:defRPr>
            </a:pPr>
            <a:r>
              <a:t>Make the current product easy to evaluate, then collect the evidence needed for the next milestone.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1837943"/>
            <a:ext cx="5084064" cy="2322576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" y="2011680"/>
            <a:ext cx="132588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99C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2043684"/>
            <a:ext cx="117957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80" b="0" i="0">
                <a:solidFill>
                  <a:srgbClr val="99C5A2"/>
                </a:solidFill>
                <a:latin typeface="Consolas"/>
              </a:defRPr>
            </a:pPr>
            <a:r>
              <a:t>DEMO SEQUENCE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" y="2441448"/>
            <a:ext cx="3840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73452"/>
            <a:ext cx="2377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CFAC74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2455164"/>
            <a:ext cx="40507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90" b="0" i="0">
                <a:solidFill>
                  <a:srgbClr val="F3F1E8"/>
                </a:solidFill>
                <a:latin typeface="Arial"/>
              </a:defRPr>
            </a:pPr>
            <a:r>
              <a:t>Issue a sidecar for a known test audio/video file.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" y="2807208"/>
            <a:ext cx="3840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2839212"/>
            <a:ext cx="2377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CFAC74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" y="2820924"/>
            <a:ext cx="40507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90" b="0" i="0">
                <a:solidFill>
                  <a:srgbClr val="F3F1E8"/>
                </a:solidFill>
                <a:latin typeface="Arial"/>
              </a:defRPr>
            </a:pPr>
            <a:r>
              <a:t>Verify the original: signature status + exact hash match.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" y="3172968"/>
            <a:ext cx="3840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204972"/>
            <a:ext cx="2377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CFAC74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8" y="3186684"/>
            <a:ext cx="40507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90" b="0" i="0">
                <a:solidFill>
                  <a:srgbClr val="F3F1E8"/>
                </a:solidFill>
                <a:latin typeface="Arial"/>
              </a:defRPr>
            </a:pPr>
            <a:r>
              <a:t>Transcode a copy: show the hash mismatch without calling it fake.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" y="3538728"/>
            <a:ext cx="384048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3570732"/>
            <a:ext cx="237744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CFAC74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5608" y="3552444"/>
            <a:ext cx="40507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90" b="0" i="0">
                <a:solidFill>
                  <a:srgbClr val="F3F1E8"/>
                </a:solidFill>
                <a:latin typeface="Arial"/>
              </a:defRPr>
            </a:pPr>
            <a:r>
              <a:t>Show optional candidate score and a human-review/OCR sample.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71032" y="1837943"/>
            <a:ext cx="5550408" cy="2322576"/>
          </a:xfrm>
          <a:prstGeom prst="roundRect">
            <a:avLst/>
          </a:prstGeom>
          <a:solidFill>
            <a:srgbClr val="15362B"/>
          </a:solidFill>
          <a:ln w="10160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90488" y="2011680"/>
            <a:ext cx="1828800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88B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043684"/>
            <a:ext cx="1682496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80" b="0" i="0">
                <a:solidFill>
                  <a:srgbClr val="88B7BA"/>
                </a:solidFill>
                <a:latin typeface="Consolas"/>
              </a:defRPr>
            </a:pPr>
            <a:r>
              <a:t>VERIFIED PROJECT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441448"/>
            <a:ext cx="50292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140" b="1" i="0">
                <a:solidFill>
                  <a:srgbClr val="F3F1E8"/>
                </a:solidFill>
                <a:latin typeface="Arial"/>
              </a:defRPr>
            </a:pPr>
            <a:r>
              <a:t>JavaScript / manifest / Python syntax checks · production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889504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120" b="1" i="0">
                <a:solidFill>
                  <a:srgbClr val="99C5A2"/>
                </a:solidFill>
                <a:latin typeface="Arial"/>
              </a:defRPr>
            </a:pPr>
            <a:r>
              <a:t>7 / 7 credential tests passed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227832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120" b="1" i="0">
                <a:solidFill>
                  <a:srgbClr val="99C5A2"/>
                </a:solidFill>
                <a:latin typeface="Arial"/>
              </a:defRPr>
            </a:pPr>
            <a:r>
              <a:t>3 / 3 content-preflight tests 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575304"/>
            <a:ext cx="502920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19" b="0" i="0">
                <a:solidFill>
                  <a:srgbClr val="DD8B78"/>
                </a:solidFill>
                <a:latin typeface="Arial"/>
              </a:defRPr>
            </a:pPr>
            <a:r>
              <a:t>Not runtime-validated: Chrome extension, local backend, native Chromaprint, Tesseract OCR, and faster-whisper.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" y="4389120"/>
            <a:ext cx="6400800" cy="1243584"/>
          </a:xfrm>
          <a:prstGeom prst="roundRect">
            <a:avLst/>
          </a:prstGeom>
          <a:solidFill>
            <a:srgbClr val="1B4032"/>
          </a:solidFill>
          <a:ln w="952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6112" y="4553712"/>
            <a:ext cx="1060704" cy="265176"/>
          </a:xfrm>
          <a:prstGeom prst="roundRect">
            <a:avLst/>
          </a:prstGeom>
          <a:solidFill>
            <a:srgbClr val="1B4032"/>
          </a:solidFill>
          <a:ln w="8255">
            <a:solidFill>
              <a:srgbClr val="CFA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4585716"/>
            <a:ext cx="914399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80" b="0" i="0">
                <a:solidFill>
                  <a:srgbClr val="CFAC74"/>
                </a:solidFill>
                <a:latin typeface="Consolas"/>
              </a:defRPr>
            </a:pPr>
            <a:r>
              <a:t>INPUT NEEDED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919472"/>
            <a:ext cx="59253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120" b="1" i="0">
                <a:solidFill>
                  <a:srgbClr val="F3F1E8"/>
                </a:solidFill>
                <a:latin typeface="Arial"/>
              </a:defRPr>
            </a:pPr>
            <a:r>
              <a:t>Sanitized SBR API docs + test vectors; a Chrome test setup; and a decision on what—if anything—should be anchored on Monad.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9480" y="4389120"/>
            <a:ext cx="4251960" cy="1243584"/>
          </a:xfrm>
          <a:prstGeom prst="roundRect">
            <a:avLst/>
          </a:prstGeom>
          <a:solidFill>
            <a:srgbClr val="15362B"/>
          </a:solidFill>
          <a:ln w="8255">
            <a:solidFill>
              <a:srgbClr val="3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79792" y="4562856"/>
            <a:ext cx="382219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90" b="0" i="0">
                <a:solidFill>
                  <a:srgbClr val="BAC4B7"/>
                </a:solidFill>
                <a:latin typeface="Arial"/>
              </a:defRPr>
            </a:pPr>
            <a:r>
              <a:t>No entrant/winner claim. No Monad deployment or endorsement is represented. Content review is not legal or SEBI approval.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5815584"/>
            <a:ext cx="5120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88B7BA"/>
                </a:solidFill>
                <a:latin typeface="Arial"/>
                <a:hlinkClick r:id="rId4"/>
              </a:rPr>
              <a:t>Official brief: monad.xyz/developers/hackathons/metropolis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98464" y="5815584"/>
            <a:ext cx="47548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88B7BA"/>
                </a:solidFill>
                <a:latin typeface="Arial"/>
                <a:hlinkClick r:id="rId5"/>
              </a:rPr>
              <a:t>Official logo kit: monad.xyz/brand-and-media-kit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153912"/>
            <a:ext cx="10424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830" b="0" i="0">
                <a:solidFill>
                  <a:srgbClr val="8FA294"/>
                </a:solidFill>
                <a:latin typeface="Consolas"/>
              </a:defRPr>
            </a:pPr>
            <a:r>
              <a:t>Prepared 13 Oct 2026 · RelayProof prototype notes: LIVE_VERIFIER.md · Official Monad logo/Metropolis wordmark used for ecosystem identification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RelayProof — Monad Metropolis Track 04 Problem-Fit Deck</dc:title>
  <dc:subject>Seven-slide prototype overview, official prompt fit, features, architecture, limitations and validation</dc:subject>
  <dc:creator>RelayProof prototype</dc:creator>
  <cp:keywords>RelayProof, Monad, Metropolis, Track 04, media provenance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